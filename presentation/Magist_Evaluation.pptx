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8"/>
  </p:notesMasterIdLst>
  <p:sldIdLst>
    <p:sldId id="266" r:id="rId3"/>
    <p:sldId id="270" r:id="rId4"/>
    <p:sldId id="263" r:id="rId5"/>
    <p:sldId id="264" r:id="rId6"/>
    <p:sldId id="271" r:id="rId7"/>
    <p:sldId id="257" r:id="rId8"/>
    <p:sldId id="258" r:id="rId9"/>
    <p:sldId id="272" r:id="rId10"/>
    <p:sldId id="273" r:id="rId11"/>
    <p:sldId id="260" r:id="rId12"/>
    <p:sldId id="269" r:id="rId13"/>
    <p:sldId id="262" r:id="rId14"/>
    <p:sldId id="267" r:id="rId15"/>
    <p:sldId id="268" r:id="rId16"/>
    <p:sldId id="261" r:id="rId17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66E"/>
    <a:srgbClr val="F59B31"/>
    <a:srgbClr val="767676"/>
    <a:srgbClr val="56A794"/>
    <a:srgbClr val="0F4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84"/>
    <p:restoredTop sz="93688"/>
  </p:normalViewPr>
  <p:slideViewPr>
    <p:cSldViewPr snapToGrid="0">
      <p:cViewPr varScale="1">
        <p:scale>
          <a:sx n="234" d="100"/>
          <a:sy n="234" d="100"/>
        </p:scale>
        <p:origin x="200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B66E2-55B8-1841-8695-D871A4048513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88CA1-6D27-7E40-A8F1-87C1784DE2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07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dirty="0" err="1"/>
              <a:t>Eniac</a:t>
            </a:r>
            <a:r>
              <a:rPr lang="en-GB" sz="1600" dirty="0"/>
              <a:t> sells premium, Apple-compatible accessories. </a:t>
            </a:r>
          </a:p>
          <a:p>
            <a:r>
              <a:rPr lang="en-GB" sz="1600" dirty="0"/>
              <a:t>Magist sells everything, cheaply, through the public post office. </a:t>
            </a:r>
          </a:p>
          <a:p>
            <a:r>
              <a:rPr lang="en-GB" sz="1600" dirty="0"/>
              <a:t>Today we're answering one question: does that combination actually work?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First, some context. In 2018 — Brazil's e-commerce market was booming: </a:t>
            </a:r>
          </a:p>
          <a:p>
            <a:pPr marL="171450" indent="-171450">
              <a:buFontTx/>
              <a:buChar char="-"/>
            </a:pPr>
            <a:r>
              <a:rPr lang="en-GB" dirty="0"/>
              <a:t>58 million people shopping online, growing double digits for the first time since the 2016 recession. </a:t>
            </a:r>
          </a:p>
          <a:p>
            <a:pPr marL="171450" indent="-171450">
              <a:buFontTx/>
              <a:buChar char="-"/>
            </a:pPr>
            <a:r>
              <a:rPr lang="en-GB" dirty="0"/>
              <a:t>But it was still only 3% of total retail. That matters: real demand exists, but trust in online shopping was still being built — which means a bad delivery experience does outsized damage.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That brings us to </a:t>
            </a:r>
            <a:r>
              <a:rPr lang="en-GB" dirty="0" err="1"/>
              <a:t>Eniac's</a:t>
            </a:r>
            <a:r>
              <a:rPr lang="en-GB" dirty="0"/>
              <a:t> two questions: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Is Magist actually a fit for high-end tech?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And are deliveries fast enough to protect the customer experience </a:t>
            </a:r>
            <a:r>
              <a:rPr lang="en-GB" dirty="0" err="1"/>
              <a:t>Eniac</a:t>
            </a:r>
            <a:r>
              <a:rPr lang="en-GB" dirty="0"/>
              <a:t> is known for?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We'll take these one at a time.</a:t>
            </a:r>
            <a:endParaRPr lang="en-GB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13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Here's what we're working with:</a:t>
            </a:r>
          </a:p>
          <a:p>
            <a:r>
              <a:rPr lang="en-GB" dirty="0" err="1"/>
              <a:t>Magist's</a:t>
            </a:r>
            <a:r>
              <a:rPr lang="en-GB" dirty="0"/>
              <a:t> full order history, filtered specifically to the four tech categories: computer accessories, telephony, electronics, and computers. </a:t>
            </a:r>
          </a:p>
          <a:p>
            <a:r>
              <a:rPr lang="en-GB" dirty="0"/>
              <a:t>This is the data behind everything that follows.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810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start with the first question. ’State the question’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224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Tech is a real category on Magist — but a modest one. </a:t>
            </a:r>
          </a:p>
          <a:p>
            <a:r>
              <a:rPr lang="en-GB" dirty="0"/>
              <a:t>Products, sellers, and revenue all sit around a tenth of the platform's total activity. </a:t>
            </a:r>
          </a:p>
          <a:p>
            <a:r>
              <a:rPr lang="en-GB" dirty="0"/>
              <a:t>So Magist can move tech product. The real question is what kind.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47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And here's the mismatch. </a:t>
            </a:r>
            <a:r>
              <a:rPr lang="en-GB" dirty="0" err="1"/>
              <a:t>Eniac's</a:t>
            </a:r>
            <a:r>
              <a:rPr lang="en-GB" dirty="0"/>
              <a:t> average price point is €540.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On Magist, more than 90% of tech items sold are priced below that.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err="1"/>
              <a:t>Magist's</a:t>
            </a:r>
            <a:r>
              <a:rPr lang="en-GB" dirty="0"/>
              <a:t> tech buyers are trained on budget and mid-tier pricing, </a:t>
            </a:r>
            <a:r>
              <a:rPr lang="en-GB" dirty="0" err="1"/>
              <a:t>Eniac</a:t>
            </a:r>
            <a:r>
              <a:rPr lang="en-GB" dirty="0"/>
              <a:t> would be entering as a clear outlier, not the norm.</a:t>
            </a:r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49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comes the second part which is about deliveries, are they fast enough?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991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B3072-97D6-B152-A623-48C39002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93E0C-518C-E180-C2D3-7FB9748CB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39866B-7D1A-46E0-8A53-68EFD3D07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On delivery: most tech orders arrive on time. </a:t>
            </a:r>
          </a:p>
          <a:p>
            <a:r>
              <a:rPr lang="en-GB" dirty="0"/>
              <a:t>But delayed orders take dramatically longer, turning an acceptable wait into something closer to a month. </a:t>
            </a:r>
          </a:p>
          <a:p>
            <a:r>
              <a:rPr lang="en-GB" dirty="0"/>
              <a:t>That gap is the real risk hiding inside a good-looking average.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17168-60E5-EDBC-3346-0609BA0EF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3413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And here's why that gap matters: review scores drop sharply the moment an order is late. </a:t>
            </a:r>
          </a:p>
          <a:p>
            <a:r>
              <a:rPr lang="en-GB" dirty="0"/>
              <a:t>This is the clearest finding in our whole analysis:</a:t>
            </a:r>
          </a:p>
          <a:p>
            <a:r>
              <a:rPr lang="en-GB" dirty="0"/>
              <a:t>Delivery delay is the single strongest driver of customer dissatisfaction on this platform.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87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Compare that to the standard: </a:t>
            </a:r>
          </a:p>
          <a:p>
            <a:r>
              <a:rPr lang="en-GB" dirty="0"/>
              <a:t>an Apple Store delivers in one to seven days. Magist averages around 13 — with no express option at all. </a:t>
            </a:r>
          </a:p>
          <a:p>
            <a:r>
              <a:rPr lang="en-GB" dirty="0"/>
              <a:t>And 60% of tech sellers are based in São Paulo, so anywhere outside SP, that gap gets worse.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Technical detail:</a:t>
            </a:r>
          </a:p>
          <a:p>
            <a:pPr marL="171450" indent="-171450">
              <a:buFontTx/>
              <a:buChar char="-"/>
            </a:pPr>
            <a: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 sellers are heavily concentrated in São Paulo (268 of 444, ~60%), meaning delivery performance elsewhere depends on longer-distance shipping from a single hub </a:t>
            </a:r>
          </a:p>
          <a:p>
            <a:pPr marL="171450" indent="-171450">
              <a:buFontTx/>
              <a:buChar char="-"/>
            </a:pPr>
            <a:endParaRPr lang="en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5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Delay Rate Over Time — Not Stable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GB" dirty="0"/>
              <a:t>And it's not even a stable 13 days. Delay rates spike under demand:</a:t>
            </a:r>
          </a:p>
          <a:p>
            <a:r>
              <a:rPr lang="en-GB" dirty="0"/>
              <a:t>Both spikes coincide with known Brazilian shopping seasons — Black Friday and back-to-school,</a:t>
            </a:r>
          </a:p>
          <a:p>
            <a:r>
              <a:rPr lang="en-GB" dirty="0"/>
              <a:t>suggesting </a:t>
            </a:r>
            <a:r>
              <a:rPr lang="en-GB" dirty="0" err="1"/>
              <a:t>Magist's</a:t>
            </a:r>
            <a:r>
              <a:rPr lang="en-GB" dirty="0"/>
              <a:t> delivery network strains specifically under concentrated demand, not steady growth.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458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So, our recommendation: </a:t>
            </a:r>
          </a:p>
          <a:p>
            <a:r>
              <a:rPr lang="en-GB" dirty="0"/>
              <a:t>a conditional yes. Enter through Magist, but with guardrails:</a:t>
            </a:r>
          </a:p>
          <a:p>
            <a:r>
              <a:rPr lang="en-GB" dirty="0"/>
              <a:t>a pilot on mid-tier accessories first, </a:t>
            </a:r>
          </a:p>
          <a:p>
            <a:r>
              <a:rPr lang="en-GB" dirty="0"/>
              <a:t>explicit delivery commitments for tech specifically, </a:t>
            </a:r>
          </a:p>
          <a:p>
            <a:r>
              <a:rPr lang="en-GB" dirty="0"/>
              <a:t>and a phased rollout starting in São Paulo, where the seller network can actually support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Average Delivery days around SP region for the tech products.</a:t>
            </a:r>
          </a:p>
          <a:p>
            <a:endParaRPr lang="en-US" dirty="0"/>
          </a:p>
          <a:p>
            <a:pPr marL="171450" indent="-171450">
              <a:buFontTx/>
              <a:buChar char="-"/>
            </a:pPr>
            <a:r>
              <a:rPr lang="en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 sellers are heavily concentrated in São Paulo (268 of 444, ~60%), meaning delivery performance elsewhere depends on longer-distance shipping from a single hub </a:t>
            </a:r>
          </a:p>
          <a:p>
            <a:pPr marL="171450" indent="-171450">
              <a:buFontTx/>
              <a:buChar char="-"/>
            </a:pPr>
            <a:endParaRPr lang="en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88CA1-6D27-7E40-A8F1-87C1784DE2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08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F03BB-F9E6-B4B3-40E6-927FD63B2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E7BD50-D704-ED83-42D6-C046D5C8CB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767D8-47D6-ED53-291B-DBDA9A972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B3B8E-3A09-6CED-86E7-EFF0940D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45940-9A9B-AD6F-29E9-A0E9B18BC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87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EF881-60DC-8742-BFE9-926EF7FA8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9F084-8061-8485-261E-3AEDB799D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A5C15-8E4D-70A7-6D3F-B43529C6F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8362E-B6AC-8B3D-74BE-CE748E7D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B1355-0B63-8516-50A3-B8E797A7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6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D557D-4A59-CE9C-1DA4-0D1E3ABD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1DAC5-4671-E494-8063-93C410891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D1A74-4C74-6D7C-D7DA-4BF3A503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C2B60-A667-1FBA-718D-140956D48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AE9E7-7976-3BD4-5094-DCA7DC148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280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817EB-0EB5-7D50-76FA-2B49CC40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DF86C-2191-D488-F4B5-9D772A8AE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02A9E-B3D2-3AA2-B5BC-74F41890B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C2C74-0C6C-0F51-1242-B6668CAE7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67D46-7184-705A-DDDB-76A58307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F79E9-5D1E-CF9E-D299-66DC9DE4C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7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791E-E51D-8248-B7A8-1F7B8E55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E16AD0-A796-ACDA-651F-C16291FBE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08C48-8EE7-3E09-0951-E7BC8A146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AA7059-20BB-2E81-D835-EA5FDA88A8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4CC65-6B8C-4D6A-9E76-8A3E20DC4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E7C09E-2DA4-6ADE-B631-23557AD16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7239A6-3E8F-2A12-8053-9C72F1F6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666F3E-BCF0-2790-09C9-1C8BF1DF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46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D93E-4739-0C0F-335E-582F4532D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08F83B-D2AD-98F5-A5AB-FE8A75C0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95EC4-E153-385D-47AD-E0CB499C1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0D5B2-393D-12C4-49C8-68D663E6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0869A-B2E9-A1B4-A32F-5128BA02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D3DD5-6826-9456-AB6D-DF073E2D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0BCCC-EAA2-E28B-4A66-84F0DBA32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43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A29B3-5ECA-E3E6-3B40-EED2EAE60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60801-FD6A-03A1-58F4-9AD9E229C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9A99F-4DE9-6356-A3AF-F15D4BB33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55D5B-05F5-0B81-B6DE-3B46F7E43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E806E0-A379-C7DB-4783-7E089AC7E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5B0D0-0BD2-C8CF-5638-DE3E05B3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55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3647-AB36-89C4-92D6-56F45F64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D4291B-983B-6E56-1AAB-C17916BC56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C0AA4-DB13-0550-4FE1-32E987D5A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D088A-01EB-7DF7-FAE1-974883709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CCC24-1EA2-8AFC-4953-1151E4CDA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5EB06-FCE5-7660-E988-EDD3BBAF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26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D3D28-1B7D-B948-5AC2-4E4498539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D3BCE-FC62-687E-F141-96529C18B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DCBDE-ED5D-A8A5-9BED-F5659C09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1EE89-660D-D783-75D6-FBA8D8DEC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04CE5-D73A-4AD1-D708-67B6154B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01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3DD4F5-416B-10AB-B138-F7A38E1A10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7CEBB-14D0-C3FA-A570-3D2EFBD3E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BA8D9-D467-DDA0-00BA-4BD3F45B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5A5C4-AFF4-F842-B60A-7E6A2D82D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15EAA-5391-CED6-EF2D-84AA2261C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34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221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656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66FAC-5CB9-3CED-32DD-94528FC91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72B14-10C8-181E-4452-9E5F02675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3922F-877A-1116-030E-4212E50318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E2997-85E1-604B-87DF-E9A63C6825B7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B73C6-0AF0-347B-FFC0-803B8D8C4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44929-96FC-692E-918E-DF5F944D9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71111-874E-1F48-9B41-DBB79E2878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4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5462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Should Eniac contract Magist?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1F5E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Magist as Eniac's distribution partner for expansion into Brazil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4069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9FD9C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Group Q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i="1" dirty="0">
                <a:solidFill>
                  <a:srgbClr val="9FD9C8"/>
                </a:solidFill>
                <a:latin typeface="Calibri" pitchFamily="34" charset="0"/>
                <a:cs typeface="Calibri" pitchFamily="34" charset="-120"/>
              </a:rPr>
              <a:t>12.08.2026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Brazilians were already buying online — and growing fast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67178" cy="2606040"/>
          </a:xfrm>
          <a:prstGeom prst="roundRect">
            <a:avLst>
              <a:gd name="adj" fmla="val 4274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57909" y="2139696"/>
            <a:ext cx="548640" cy="45720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US$15B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85800" y="292608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e-commerce revenue (2018)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3520440"/>
            <a:ext cx="2237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 vs. 2017 — first double-digit growth since 2015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0138" y="1920240"/>
            <a:ext cx="2567178" cy="2606040"/>
          </a:xfrm>
          <a:prstGeom prst="roundRect">
            <a:avLst>
              <a:gd name="adj" fmla="val 4274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99407" y="2139696"/>
            <a:ext cx="548640" cy="45720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81578" y="2286000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58M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27298" y="292608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Brazilians shopped online in 2018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54730" y="3520440"/>
            <a:ext cx="2237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 of the population — up 6 points year over year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1636" y="1920240"/>
            <a:ext cx="2567178" cy="2606040"/>
          </a:xfrm>
          <a:prstGeom prst="roundRect">
            <a:avLst>
              <a:gd name="adj" fmla="val 4274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40905" y="2139696"/>
            <a:ext cx="548640" cy="45720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3076" y="2286000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123M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6368796" y="292608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purchases made in 2018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96228" y="3520440"/>
            <a:ext cx="2237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vs. 2017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73134" y="1920240"/>
            <a:ext cx="2567178" cy="2606040"/>
          </a:xfrm>
          <a:prstGeom prst="roundRect">
            <a:avLst>
              <a:gd name="adj" fmla="val 4274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82403" y="2139696"/>
            <a:ext cx="548640" cy="45720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64574" y="2286000"/>
            <a:ext cx="238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R$434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9210294" y="2926080"/>
            <a:ext cx="2292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cart price (2018)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37726" y="3520440"/>
            <a:ext cx="22379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≈US$119, roughly flat vs. 2017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4892040"/>
            <a:ext cx="10469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was still just ~3% of Brazil’s total retail in 2018 — growing fast, but early. That combination cuts both ways: real demand and headroom for </a:t>
            </a:r>
            <a:r>
              <a:rPr lang="en-US" sz="1300" i="1" dirty="0" err="1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Eniac</a:t>
            </a:r>
            <a:r>
              <a:rPr lang="en-US" sz="13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172200"/>
            <a:ext cx="5244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eBit Webshoppers 2019 report (2018 figures), via U.S. Dept. of Commerce Privacy Shield country guide</a:t>
            </a:r>
            <a:endParaRPr lang="en-US" sz="900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E7081E-93FB-0F28-E095-A70A5BF34548}"/>
              </a:ext>
            </a:extLst>
          </p:cNvPr>
          <p:cNvSpPr txBox="1">
            <a:spLocks/>
          </p:cNvSpPr>
          <p:nvPr/>
        </p:nvSpPr>
        <p:spPr>
          <a:xfrm>
            <a:off x="3333093" y="1056838"/>
            <a:ext cx="5042338" cy="1087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3600" b="1" dirty="0" err="1">
                <a:latin typeface="Cambria" panose="02040503050406030204" pitchFamily="18" charset="0"/>
              </a:rPr>
              <a:t>Eniac’s</a:t>
            </a:r>
            <a:r>
              <a:rPr lang="en-GB" sz="3600" b="1" dirty="0">
                <a:latin typeface="Cambria" panose="02040503050406030204" pitchFamily="18" charset="0"/>
              </a:rPr>
              <a:t> Two Main Concerns</a:t>
            </a:r>
            <a:endParaRPr lang="en-US" sz="3600" b="1" dirty="0">
              <a:latin typeface="Cambria" panose="02040503050406030204" pitchFamily="18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2D72CA50-36AE-858E-DFBA-D83F1701AF20}"/>
              </a:ext>
            </a:extLst>
          </p:cNvPr>
          <p:cNvSpPr/>
          <p:nvPr/>
        </p:nvSpPr>
        <p:spPr>
          <a:xfrm rot="7555872">
            <a:off x="4177862" y="2144658"/>
            <a:ext cx="746235" cy="65109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</a:endParaRP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F4B2CA8D-687C-2770-9062-FA9BCA34C04C}"/>
              </a:ext>
            </a:extLst>
          </p:cNvPr>
          <p:cNvSpPr/>
          <p:nvPr/>
        </p:nvSpPr>
        <p:spPr>
          <a:xfrm rot="3249136">
            <a:off x="6785350" y="2144724"/>
            <a:ext cx="746235" cy="65109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A1CA25-B51E-3CF5-3790-2A41860DF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218" y="2963362"/>
            <a:ext cx="4754181" cy="20974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B50027-B51E-5B2F-4EC3-4EF1151C67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364" t="8736" r="38427" b="2069"/>
          <a:stretch>
            <a:fillRect/>
          </a:stretch>
        </p:blipFill>
        <p:spPr>
          <a:xfrm>
            <a:off x="1933467" y="2690648"/>
            <a:ext cx="2270234" cy="305851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6827C34-EDC6-E11D-E293-1F11638F6FA4}"/>
              </a:ext>
            </a:extLst>
          </p:cNvPr>
          <p:cNvSpPr txBox="1"/>
          <p:nvPr/>
        </p:nvSpPr>
        <p:spPr>
          <a:xfrm>
            <a:off x="1336958" y="5749159"/>
            <a:ext cx="33232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mbria" panose="02040503050406030204" pitchFamily="18" charset="0"/>
              </a:rPr>
              <a:t>Is Magist a fit for high-end tech?</a:t>
            </a:r>
            <a:endParaRPr lang="en-US" dirty="0">
              <a:latin typeface="Cambria" panose="02040503050406030204" pitchFamily="18" charset="0"/>
            </a:endParaRPr>
          </a:p>
          <a:p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CDC939-A56D-083F-B36F-D638E7B02033}"/>
              </a:ext>
            </a:extLst>
          </p:cNvPr>
          <p:cNvSpPr txBox="1"/>
          <p:nvPr/>
        </p:nvSpPr>
        <p:spPr>
          <a:xfrm>
            <a:off x="8046537" y="5060795"/>
            <a:ext cx="2832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mbria" panose="02040503050406030204" pitchFamily="18" charset="0"/>
              </a:rPr>
              <a:t>Are deliveries fast enough?</a:t>
            </a:r>
            <a:endParaRPr lang="en-US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03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0">
            <a:extLst>
              <a:ext uri="{FF2B5EF4-FFF2-40B4-BE49-F238E27FC236}">
                <a16:creationId xmlns:a16="http://schemas.microsoft.com/office/drawing/2014/main" id="{D7B794F1-D04C-5041-994B-6047490923A9}"/>
              </a:ext>
            </a:extLst>
          </p:cNvPr>
          <p:cNvSpPr/>
          <p:nvPr/>
        </p:nvSpPr>
        <p:spPr>
          <a:xfrm>
            <a:off x="800243" y="140313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01F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Quick Magist Summary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E34CB2-E71D-867D-91C5-5CDE4EEDCF6C}"/>
              </a:ext>
            </a:extLst>
          </p:cNvPr>
          <p:cNvSpPr txBox="1"/>
          <p:nvPr/>
        </p:nvSpPr>
        <p:spPr>
          <a:xfrm>
            <a:off x="0" y="6488668"/>
            <a:ext cx="60660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</a:rPr>
              <a:t>Tech </a:t>
            </a:r>
            <a:r>
              <a:rPr lang="en-US" sz="1600" dirty="0">
                <a:latin typeface="Cambria" panose="02040503050406030204" pitchFamily="18" charset="0"/>
                <a:sym typeface="Wingdings" pitchFamily="2" charset="2"/>
              </a:rPr>
              <a:t></a:t>
            </a:r>
            <a:r>
              <a:rPr lang="en-US" sz="1600" dirty="0">
                <a:latin typeface="Cambria" panose="02040503050406030204" pitchFamily="18" charset="0"/>
              </a:rPr>
              <a:t> </a:t>
            </a:r>
            <a:r>
              <a:rPr lang="en-GB" sz="1600" dirty="0">
                <a:latin typeface="Cambria" panose="02040503050406030204" pitchFamily="18" charset="0"/>
              </a:rPr>
              <a:t>Computers Accessories , Telephony, Electronics, Computers</a:t>
            </a:r>
          </a:p>
        </p:txBody>
      </p:sp>
      <p:sp>
        <p:nvSpPr>
          <p:cNvPr id="35" name="Shape 2">
            <a:extLst>
              <a:ext uri="{FF2B5EF4-FFF2-40B4-BE49-F238E27FC236}">
                <a16:creationId xmlns:a16="http://schemas.microsoft.com/office/drawing/2014/main" id="{1D6B5685-E6B4-BDE2-D3BE-3777BCE65BA3}"/>
              </a:ext>
            </a:extLst>
          </p:cNvPr>
          <p:cNvSpPr/>
          <p:nvPr/>
        </p:nvSpPr>
        <p:spPr>
          <a:xfrm>
            <a:off x="550164" y="1400992"/>
            <a:ext cx="3483864" cy="1965960"/>
          </a:xfrm>
          <a:prstGeom prst="roundRect">
            <a:avLst>
              <a:gd name="adj" fmla="val 5581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E3727296-B096-8470-3662-539BBF0D31B7}"/>
              </a:ext>
            </a:extLst>
          </p:cNvPr>
          <p:cNvSpPr/>
          <p:nvPr/>
        </p:nvSpPr>
        <p:spPr>
          <a:xfrm>
            <a:off x="2017776" y="1602160"/>
            <a:ext cx="548640" cy="45720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/>
        </p:spPr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4BDD6D71-CB99-7C8F-6399-7249749A3091}"/>
              </a:ext>
            </a:extLst>
          </p:cNvPr>
          <p:cNvSpPr/>
          <p:nvPr/>
        </p:nvSpPr>
        <p:spPr>
          <a:xfrm>
            <a:off x="550164" y="1721032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0721D0B5-87A2-88AA-5018-56645EEC31A9}"/>
              </a:ext>
            </a:extLst>
          </p:cNvPr>
          <p:cNvSpPr/>
          <p:nvPr/>
        </p:nvSpPr>
        <p:spPr>
          <a:xfrm>
            <a:off x="550164" y="2361112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01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39" name="Text 6">
            <a:extLst>
              <a:ext uri="{FF2B5EF4-FFF2-40B4-BE49-F238E27FC236}">
                <a16:creationId xmlns:a16="http://schemas.microsoft.com/office/drawing/2014/main" id="{7ED09141-FC44-F7A4-1AFF-2AEDF75BBE3F}"/>
              </a:ext>
            </a:extLst>
          </p:cNvPr>
          <p:cNvSpPr/>
          <p:nvPr/>
        </p:nvSpPr>
        <p:spPr>
          <a:xfrm>
            <a:off x="550164" y="2681152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C5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Sep 2016 – Oct 2018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0E924B7A-B9E3-A685-B2FE-6604D082480D}"/>
              </a:ext>
            </a:extLst>
          </p:cNvPr>
          <p:cNvSpPr/>
          <p:nvPr/>
        </p:nvSpPr>
        <p:spPr>
          <a:xfrm>
            <a:off x="4354068" y="1400992"/>
            <a:ext cx="3483864" cy="1965960"/>
          </a:xfrm>
          <a:prstGeom prst="roundRect">
            <a:avLst>
              <a:gd name="adj" fmla="val 5581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67EDB85F-93A1-2B23-461C-2168855FC1E8}"/>
              </a:ext>
            </a:extLst>
          </p:cNvPr>
          <p:cNvSpPr/>
          <p:nvPr/>
        </p:nvSpPr>
        <p:spPr>
          <a:xfrm>
            <a:off x="5821680" y="1602160"/>
            <a:ext cx="548640" cy="45720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/>
        </p:spPr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C1C19E3D-0F36-5D59-9A83-9013119C5BF7}"/>
              </a:ext>
            </a:extLst>
          </p:cNvPr>
          <p:cNvSpPr/>
          <p:nvPr/>
        </p:nvSpPr>
        <p:spPr>
          <a:xfrm>
            <a:off x="4354068" y="1721032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CDCA0197-A5CB-E45A-964F-9AEA5ADEAEFE}"/>
              </a:ext>
            </a:extLst>
          </p:cNvPr>
          <p:cNvSpPr/>
          <p:nvPr/>
        </p:nvSpPr>
        <p:spPr>
          <a:xfrm>
            <a:off x="4354068" y="2361112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01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829F7010-E63C-0DB5-6430-3D7BB8BF65F1}"/>
              </a:ext>
            </a:extLst>
          </p:cNvPr>
          <p:cNvSpPr/>
          <p:nvPr/>
        </p:nvSpPr>
        <p:spPr>
          <a:xfrm>
            <a:off x="4354068" y="2681152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C5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Full order history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9872FA2C-5C30-EF60-62ED-1A75288D8085}"/>
              </a:ext>
            </a:extLst>
          </p:cNvPr>
          <p:cNvSpPr/>
          <p:nvPr/>
        </p:nvSpPr>
        <p:spPr>
          <a:xfrm>
            <a:off x="8157972" y="1400992"/>
            <a:ext cx="3483864" cy="1965960"/>
          </a:xfrm>
          <a:prstGeom prst="roundRect">
            <a:avLst>
              <a:gd name="adj" fmla="val 5581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3BA369DF-6F66-672C-DBB5-875A362CA8B0}"/>
              </a:ext>
            </a:extLst>
          </p:cNvPr>
          <p:cNvSpPr/>
          <p:nvPr/>
        </p:nvSpPr>
        <p:spPr>
          <a:xfrm>
            <a:off x="9625584" y="1602160"/>
            <a:ext cx="548640" cy="45720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/>
        </p:spPr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7A53652E-71D0-26F9-C12B-AC43A937A00B}"/>
              </a:ext>
            </a:extLst>
          </p:cNvPr>
          <p:cNvSpPr/>
          <p:nvPr/>
        </p:nvSpPr>
        <p:spPr>
          <a:xfrm>
            <a:off x="8157972" y="1721032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32,951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49E39601-EEBC-7BC1-2ACA-0858A39A70EF}"/>
              </a:ext>
            </a:extLst>
          </p:cNvPr>
          <p:cNvSpPr/>
          <p:nvPr/>
        </p:nvSpPr>
        <p:spPr>
          <a:xfrm>
            <a:off x="8157972" y="2361112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01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Distinct products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281A3A41-AF8B-F094-0894-A944B8DA918C}"/>
              </a:ext>
            </a:extLst>
          </p:cNvPr>
          <p:cNvSpPr/>
          <p:nvPr/>
        </p:nvSpPr>
        <p:spPr>
          <a:xfrm>
            <a:off x="8157972" y="2681152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C5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Across all categories</a:t>
            </a:r>
            <a:endParaRPr lang="en-US" sz="1050" dirty="0">
              <a:latin typeface="Cambria" panose="02040503050406030204" pitchFamily="18" charset="0"/>
            </a:endParaRPr>
          </a:p>
        </p:txBody>
      </p:sp>
      <p:sp>
        <p:nvSpPr>
          <p:cNvPr id="50" name="Shape 17">
            <a:extLst>
              <a:ext uri="{FF2B5EF4-FFF2-40B4-BE49-F238E27FC236}">
                <a16:creationId xmlns:a16="http://schemas.microsoft.com/office/drawing/2014/main" id="{B30CB95B-B184-7A1F-B1D1-AE4BE4AF2737}"/>
              </a:ext>
            </a:extLst>
          </p:cNvPr>
          <p:cNvSpPr/>
          <p:nvPr/>
        </p:nvSpPr>
        <p:spPr>
          <a:xfrm>
            <a:off x="550164" y="3686992"/>
            <a:ext cx="3483864" cy="1965960"/>
          </a:xfrm>
          <a:prstGeom prst="roundRect">
            <a:avLst>
              <a:gd name="adj" fmla="val 5581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</p:sp>
      <p:sp>
        <p:nvSpPr>
          <p:cNvPr id="51" name="Shape 18">
            <a:extLst>
              <a:ext uri="{FF2B5EF4-FFF2-40B4-BE49-F238E27FC236}">
                <a16:creationId xmlns:a16="http://schemas.microsoft.com/office/drawing/2014/main" id="{12065B44-CF08-ED9C-5586-9ECBB3067390}"/>
              </a:ext>
            </a:extLst>
          </p:cNvPr>
          <p:cNvSpPr/>
          <p:nvPr/>
        </p:nvSpPr>
        <p:spPr>
          <a:xfrm>
            <a:off x="2017776" y="3888160"/>
            <a:ext cx="548640" cy="45720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/>
        </p:spPr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013CD7E6-B9D9-B0C7-0CC0-0837A8E162BB}"/>
              </a:ext>
            </a:extLst>
          </p:cNvPr>
          <p:cNvSpPr/>
          <p:nvPr/>
        </p:nvSpPr>
        <p:spPr>
          <a:xfrm>
            <a:off x="550164" y="4007032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3,095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D4CCC8C4-7F75-BC49-CB6C-BAAAA5B1F351}"/>
              </a:ext>
            </a:extLst>
          </p:cNvPr>
          <p:cNvSpPr/>
          <p:nvPr/>
        </p:nvSpPr>
        <p:spPr>
          <a:xfrm>
            <a:off x="550164" y="4647112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01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B0798978-426F-89C9-6DB5-F116AAD8FC12}"/>
              </a:ext>
            </a:extLst>
          </p:cNvPr>
          <p:cNvSpPr/>
          <p:nvPr/>
        </p:nvSpPr>
        <p:spPr>
          <a:xfrm>
            <a:off x="550164" y="4967152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444 in tech categories (14.3%)</a:t>
            </a:r>
            <a:endParaRPr lang="en-US" sz="1050" b="1" dirty="0">
              <a:solidFill>
                <a:srgbClr val="0070C0"/>
              </a:solidFill>
              <a:latin typeface="Cambria" panose="02040503050406030204" pitchFamily="18" charset="0"/>
            </a:endParaRPr>
          </a:p>
        </p:txBody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7315B11D-606E-91E9-D9E8-8119AB9A180A}"/>
              </a:ext>
            </a:extLst>
          </p:cNvPr>
          <p:cNvSpPr/>
          <p:nvPr/>
        </p:nvSpPr>
        <p:spPr>
          <a:xfrm>
            <a:off x="4354068" y="3686992"/>
            <a:ext cx="3483864" cy="1965960"/>
          </a:xfrm>
          <a:prstGeom prst="roundRect">
            <a:avLst>
              <a:gd name="adj" fmla="val 5581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</p:sp>
      <p:sp>
        <p:nvSpPr>
          <p:cNvPr id="56" name="Shape 23">
            <a:extLst>
              <a:ext uri="{FF2B5EF4-FFF2-40B4-BE49-F238E27FC236}">
                <a16:creationId xmlns:a16="http://schemas.microsoft.com/office/drawing/2014/main" id="{0BE7764C-6938-5487-0880-A40488EB8AF2}"/>
              </a:ext>
            </a:extLst>
          </p:cNvPr>
          <p:cNvSpPr/>
          <p:nvPr/>
        </p:nvSpPr>
        <p:spPr>
          <a:xfrm>
            <a:off x="5821680" y="3888160"/>
            <a:ext cx="548640" cy="45720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/>
        </p:spPr>
      </p:sp>
      <p:sp>
        <p:nvSpPr>
          <p:cNvPr id="57" name="Text 24">
            <a:extLst>
              <a:ext uri="{FF2B5EF4-FFF2-40B4-BE49-F238E27FC236}">
                <a16:creationId xmlns:a16="http://schemas.microsoft.com/office/drawing/2014/main" id="{1A1B8712-F3B0-3551-1B13-318C534DB6FB}"/>
              </a:ext>
            </a:extLst>
          </p:cNvPr>
          <p:cNvSpPr/>
          <p:nvPr/>
        </p:nvSpPr>
        <p:spPr>
          <a:xfrm>
            <a:off x="4354068" y="4007032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€13.59M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44462A0F-3C8C-E52E-06A2-97EA261E1275}"/>
              </a:ext>
            </a:extLst>
          </p:cNvPr>
          <p:cNvSpPr/>
          <p:nvPr/>
        </p:nvSpPr>
        <p:spPr>
          <a:xfrm>
            <a:off x="4354068" y="4647112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01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59" name="Text 26">
            <a:extLst>
              <a:ext uri="{FF2B5EF4-FFF2-40B4-BE49-F238E27FC236}">
                <a16:creationId xmlns:a16="http://schemas.microsoft.com/office/drawing/2014/main" id="{E094B173-9A42-05C2-F692-910A9FEED723}"/>
              </a:ext>
            </a:extLst>
          </p:cNvPr>
          <p:cNvSpPr/>
          <p:nvPr/>
        </p:nvSpPr>
        <p:spPr>
          <a:xfrm>
            <a:off x="4354068" y="4967152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70C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€1.62M from tech (11.9%)</a:t>
            </a:r>
            <a:endParaRPr lang="en-US" sz="1050" b="1" dirty="0">
              <a:solidFill>
                <a:srgbClr val="0070C0"/>
              </a:solidFill>
              <a:latin typeface="Cambria" panose="02040503050406030204" pitchFamily="18" charset="0"/>
            </a:endParaRPr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4030555F-7B9C-2022-B4AF-B8A1B28849B8}"/>
              </a:ext>
            </a:extLst>
          </p:cNvPr>
          <p:cNvSpPr/>
          <p:nvPr/>
        </p:nvSpPr>
        <p:spPr>
          <a:xfrm>
            <a:off x="8157972" y="3686992"/>
            <a:ext cx="3483864" cy="1965960"/>
          </a:xfrm>
          <a:prstGeom prst="roundRect">
            <a:avLst>
              <a:gd name="adj" fmla="val 5581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</p:sp>
      <p:sp>
        <p:nvSpPr>
          <p:cNvPr id="61" name="Shape 28">
            <a:extLst>
              <a:ext uri="{FF2B5EF4-FFF2-40B4-BE49-F238E27FC236}">
                <a16:creationId xmlns:a16="http://schemas.microsoft.com/office/drawing/2014/main" id="{D273FDE6-CBEA-D423-78F1-A25EEFAC8807}"/>
              </a:ext>
            </a:extLst>
          </p:cNvPr>
          <p:cNvSpPr/>
          <p:nvPr/>
        </p:nvSpPr>
        <p:spPr>
          <a:xfrm>
            <a:off x="9625584" y="3888160"/>
            <a:ext cx="548640" cy="45720"/>
          </a:xfrm>
          <a:prstGeom prst="roundRect">
            <a:avLst>
              <a:gd name="adj" fmla="val 40000"/>
            </a:avLst>
          </a:prstGeom>
          <a:solidFill>
            <a:srgbClr val="0F6E56"/>
          </a:solidFill>
          <a:ln/>
        </p:spPr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05F1C66A-F1D5-C891-8BB3-7E62CBA81C25}"/>
              </a:ext>
            </a:extLst>
          </p:cNvPr>
          <p:cNvSpPr/>
          <p:nvPr/>
        </p:nvSpPr>
        <p:spPr>
          <a:xfrm>
            <a:off x="8157972" y="4007032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6E56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89.2%</a:t>
            </a:r>
            <a:endParaRPr lang="en-US" sz="3000" dirty="0">
              <a:latin typeface="Cambria" panose="02040503050406030204" pitchFamily="18" charset="0"/>
            </a:endParaRPr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1334275A-4CD8-0202-6490-4079ABF924B5}"/>
              </a:ext>
            </a:extLst>
          </p:cNvPr>
          <p:cNvSpPr/>
          <p:nvPr/>
        </p:nvSpPr>
        <p:spPr>
          <a:xfrm>
            <a:off x="8157972" y="4647112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01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Orders on time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6ED465D4-7466-A965-10F5-54068CD27C2F}"/>
              </a:ext>
            </a:extLst>
          </p:cNvPr>
          <p:cNvSpPr/>
          <p:nvPr/>
        </p:nvSpPr>
        <p:spPr>
          <a:xfrm>
            <a:off x="8157972" y="4967152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5C5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7.9% delayed, 3.0% pending</a:t>
            </a:r>
            <a:endParaRPr lang="en-US" sz="105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541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2">
            <a:extLst>
              <a:ext uri="{FF2B5EF4-FFF2-40B4-BE49-F238E27FC236}">
                <a16:creationId xmlns:a16="http://schemas.microsoft.com/office/drawing/2014/main" id="{DE848F12-E78D-3CD3-596B-DE86BE59F2C1}"/>
              </a:ext>
            </a:extLst>
          </p:cNvPr>
          <p:cNvSpPr/>
          <p:nvPr/>
        </p:nvSpPr>
        <p:spPr>
          <a:xfrm>
            <a:off x="2742657" y="2584213"/>
            <a:ext cx="6706685" cy="1689573"/>
          </a:xfrm>
          <a:prstGeom prst="roundRect">
            <a:avLst>
              <a:gd name="adj" fmla="val 1043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 algn="ctr"/>
            <a:endParaRPr lang="en-GB" sz="3200" dirty="0">
              <a:latin typeface="Cambria" panose="02040503050406030204" pitchFamily="18" charset="0"/>
            </a:endParaRPr>
          </a:p>
          <a:p>
            <a:pPr algn="ctr"/>
            <a:r>
              <a:rPr lang="en-GB" sz="3200" dirty="0">
                <a:latin typeface="Cambria" panose="02040503050406030204" pitchFamily="18" charset="0"/>
              </a:rPr>
              <a:t>Is Magist a fit for high-end tech?</a:t>
            </a:r>
            <a:endParaRPr lang="en-US" sz="3200" dirty="0">
              <a:latin typeface="Cambria" panose="02040503050406030204" pitchFamily="18" charset="0"/>
            </a:endParaRPr>
          </a:p>
          <a:p>
            <a:pPr algn="ctr"/>
            <a:endParaRPr lang="en-US" sz="3200" dirty="0">
              <a:latin typeface="Cambria" panose="02040503050406030204" pitchFamily="18" charset="0"/>
            </a:endParaRPr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45092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AFF7E0A-A08D-3AE5-843C-6585AF2B63A7}"/>
              </a:ext>
            </a:extLst>
          </p:cNvPr>
          <p:cNvSpPr txBox="1"/>
          <p:nvPr/>
        </p:nvSpPr>
        <p:spPr>
          <a:xfrm>
            <a:off x="1184714" y="5707904"/>
            <a:ext cx="95341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1E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is established on Magist — but not dominant</a:t>
            </a:r>
            <a:endParaRPr lang="en-US" sz="32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1D5F0C26-D177-6871-4839-7E31136D8994}"/>
              </a:ext>
            </a:extLst>
          </p:cNvPr>
          <p:cNvSpPr/>
          <p:nvPr/>
        </p:nvSpPr>
        <p:spPr>
          <a:xfrm>
            <a:off x="2862797" y="6203345"/>
            <a:ext cx="61779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C58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Tech products, sellers, and revenue all sit around a tenth of the platform’s total activity</a:t>
            </a:r>
            <a:endParaRPr lang="en-US" sz="1300" dirty="0">
              <a:latin typeface="Cambria" panose="020405030504060302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3F14E40-3D0E-FC6A-C8B5-F94CCFCF3FC5}"/>
              </a:ext>
            </a:extLst>
          </p:cNvPr>
          <p:cNvGrpSpPr/>
          <p:nvPr/>
        </p:nvGrpSpPr>
        <p:grpSpPr>
          <a:xfrm>
            <a:off x="3105806" y="197455"/>
            <a:ext cx="6678791" cy="5305496"/>
            <a:chOff x="3105806" y="197455"/>
            <a:chExt cx="6678791" cy="5305496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475CE46-392F-1BBD-271D-C4AA54E1E303}"/>
                </a:ext>
              </a:extLst>
            </p:cNvPr>
            <p:cNvGrpSpPr/>
            <p:nvPr/>
          </p:nvGrpSpPr>
          <p:grpSpPr>
            <a:xfrm>
              <a:off x="3105806" y="197455"/>
              <a:ext cx="5575739" cy="5305496"/>
              <a:chOff x="3105806" y="197455"/>
              <a:chExt cx="5575739" cy="530549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FE273BD6-D215-A47F-6C50-A7E7DDE866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986"/>
              <a:stretch>
                <a:fillRect/>
              </a:stretch>
            </p:blipFill>
            <p:spPr>
              <a:xfrm>
                <a:off x="3105806" y="197455"/>
                <a:ext cx="5575739" cy="5305496"/>
              </a:xfrm>
              <a:prstGeom prst="rect">
                <a:avLst/>
              </a:prstGeom>
            </p:spPr>
          </p:pic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E00E75B-58E0-08BD-6AA9-9F05D2CC2C95}"/>
                  </a:ext>
                </a:extLst>
              </p:cNvPr>
              <p:cNvSpPr txBox="1"/>
              <p:nvPr/>
            </p:nvSpPr>
            <p:spPr>
              <a:xfrm>
                <a:off x="5925512" y="2650148"/>
                <a:ext cx="252248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00" b="1" dirty="0">
                    <a:latin typeface="Cambria" panose="02040503050406030204" pitchFamily="18" charset="0"/>
                    <a:ea typeface="Calibri" pitchFamily="34" charset="-122"/>
                    <a:cs typeface="Calibri" pitchFamily="34" charset="-120"/>
                  </a:rPr>
                  <a:t>%</a:t>
                </a:r>
                <a:endParaRPr lang="en-US" sz="600" b="1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EB4D9B-E970-CDA6-7DD4-78D981B81E9F}"/>
                  </a:ext>
                </a:extLst>
              </p:cNvPr>
              <p:cNvSpPr txBox="1"/>
              <p:nvPr/>
            </p:nvSpPr>
            <p:spPr>
              <a:xfrm>
                <a:off x="5930767" y="5078037"/>
                <a:ext cx="252248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00" dirty="0">
                    <a:solidFill>
                      <a:schemeClr val="bg1"/>
                    </a:solidFill>
                    <a:latin typeface="Cambria" panose="02040503050406030204" pitchFamily="18" charset="0"/>
                    <a:ea typeface="Calibri" pitchFamily="34" charset="-122"/>
                    <a:cs typeface="Calibri" pitchFamily="34" charset="-120"/>
                  </a:rPr>
                  <a:t>%</a:t>
                </a:r>
                <a:endParaRPr lang="en-US" sz="600" dirty="0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0B6146D-282E-3B35-7C48-FCD9F5097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18981" y="197455"/>
              <a:ext cx="1065616" cy="5105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108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808FC0-2906-376F-61EA-9E33CDE7F796}"/>
              </a:ext>
            </a:extLst>
          </p:cNvPr>
          <p:cNvCxnSpPr>
            <a:cxnSpLocks/>
            <a:endCxn id="9" idx="0"/>
          </p:cNvCxnSpPr>
          <p:nvPr/>
        </p:nvCxnSpPr>
        <p:spPr>
          <a:xfrm flipV="1">
            <a:off x="3328015" y="518073"/>
            <a:ext cx="0" cy="5809154"/>
          </a:xfrm>
          <a:prstGeom prst="line">
            <a:avLst/>
          </a:prstGeom>
          <a:ln w="63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0">
            <a:extLst>
              <a:ext uri="{FF2B5EF4-FFF2-40B4-BE49-F238E27FC236}">
                <a16:creationId xmlns:a16="http://schemas.microsoft.com/office/drawing/2014/main" id="{3596C699-7591-211F-B3B0-6CCD2595525A}"/>
              </a:ext>
            </a:extLst>
          </p:cNvPr>
          <p:cNvSpPr/>
          <p:nvPr/>
        </p:nvSpPr>
        <p:spPr>
          <a:xfrm>
            <a:off x="160335" y="-19654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pricing mismatch</a:t>
            </a:r>
            <a:endParaRPr lang="en-US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44A59-2567-FE34-10BF-2EAE13923AD1}"/>
              </a:ext>
            </a:extLst>
          </p:cNvPr>
          <p:cNvSpPr txBox="1"/>
          <p:nvPr/>
        </p:nvSpPr>
        <p:spPr>
          <a:xfrm>
            <a:off x="8179486" y="2968990"/>
            <a:ext cx="26963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Eniac’s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Average Price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 </a:t>
            </a:r>
            <a:r>
              <a:rPr lang="en-DE" sz="1600" dirty="0">
                <a:latin typeface="Calibri" panose="020F0502020204030204" pitchFamily="34" charset="0"/>
                <a:cs typeface="Calibri" panose="020F0502020204030204" pitchFamily="34" charset="0"/>
              </a:rPr>
              <a:t>€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540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7124FB-F68A-72ED-5FC0-B54642BDBEF1}"/>
              </a:ext>
            </a:extLst>
          </p:cNvPr>
          <p:cNvSpPr txBox="1"/>
          <p:nvPr/>
        </p:nvSpPr>
        <p:spPr>
          <a:xfrm>
            <a:off x="7454955" y="3589149"/>
            <a:ext cx="40702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More than </a:t>
            </a: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90 %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tech ordered items are below </a:t>
            </a:r>
          </a:p>
          <a:p>
            <a:pPr algn="ctr"/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Eniac’s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Average Price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95D35F8-592E-B73C-9313-3310A3850C2C}"/>
              </a:ext>
            </a:extLst>
          </p:cNvPr>
          <p:cNvCxnSpPr>
            <a:cxnSpLocks/>
          </p:cNvCxnSpPr>
          <p:nvPr/>
        </p:nvCxnSpPr>
        <p:spPr>
          <a:xfrm>
            <a:off x="7743987" y="3174527"/>
            <a:ext cx="408122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F1B9E-546E-C4A9-CF85-639B59304B07}"/>
              </a:ext>
            </a:extLst>
          </p:cNvPr>
          <p:cNvGrpSpPr/>
          <p:nvPr/>
        </p:nvGrpSpPr>
        <p:grpSpPr>
          <a:xfrm>
            <a:off x="0" y="518073"/>
            <a:ext cx="6306207" cy="6339927"/>
            <a:chOff x="0" y="518073"/>
            <a:chExt cx="6306207" cy="6339927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E58F4F8-EC81-5ADE-3D1A-E273C53E4FE3}"/>
                </a:ext>
              </a:extLst>
            </p:cNvPr>
            <p:cNvGrpSpPr/>
            <p:nvPr/>
          </p:nvGrpSpPr>
          <p:grpSpPr>
            <a:xfrm>
              <a:off x="0" y="518073"/>
              <a:ext cx="6306207" cy="6339927"/>
              <a:chOff x="0" y="518073"/>
              <a:chExt cx="6306207" cy="6339927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43EF8532-13A3-FFFB-A526-C89800B7AEE4}"/>
                  </a:ext>
                </a:extLst>
              </p:cNvPr>
              <p:cNvGrpSpPr/>
              <p:nvPr/>
            </p:nvGrpSpPr>
            <p:grpSpPr>
              <a:xfrm>
                <a:off x="0" y="518073"/>
                <a:ext cx="6306207" cy="6339927"/>
                <a:chOff x="2582393" y="126101"/>
                <a:chExt cx="6657882" cy="6695069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983722F0-0D74-82B3-D9AA-BA72885E3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51724" y="126101"/>
                  <a:ext cx="6288551" cy="6321527"/>
                </a:xfrm>
                <a:prstGeom prst="rect">
                  <a:avLst/>
                </a:prstGeom>
              </p:spPr>
            </p:pic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398E747A-B78B-FC0C-161D-F5B558342371}"/>
                    </a:ext>
                  </a:extLst>
                </p:cNvPr>
                <p:cNvSpPr txBox="1"/>
                <p:nvPr/>
              </p:nvSpPr>
              <p:spPr>
                <a:xfrm>
                  <a:off x="5645394" y="6482616"/>
                  <a:ext cx="901209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Price (</a:t>
                  </a:r>
                  <a:r>
                    <a:rPr lang="en-DE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€</a:t>
                  </a:r>
                  <a:r>
                    <a:rPr lang="en-GB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)</a:t>
                  </a:r>
                  <a:endParaRPr lang="en-US" sz="16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9FBD3B9-4CAC-0F7E-DDCA-AA1BEC0C646D}"/>
                    </a:ext>
                  </a:extLst>
                </p:cNvPr>
                <p:cNvSpPr txBox="1"/>
                <p:nvPr/>
              </p:nvSpPr>
              <p:spPr>
                <a:xfrm rot="16200000">
                  <a:off x="2056447" y="3259721"/>
                  <a:ext cx="139044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Ordered Items</a:t>
                  </a:r>
                </a:p>
              </p:txBody>
            </p:sp>
          </p:grp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43157D5B-2CA5-C42C-328B-0E5BE0E936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11198" y="549069"/>
                <a:ext cx="1065616" cy="510536"/>
              </a:xfrm>
              <a:prstGeom prst="rect">
                <a:avLst/>
              </a:prstGeom>
            </p:spPr>
          </p:pic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38BB33-3BAF-D5C5-D220-4B95A21C56C4}"/>
                </a:ext>
              </a:extLst>
            </p:cNvPr>
            <p:cNvCxnSpPr>
              <a:cxnSpLocks/>
            </p:cNvCxnSpPr>
            <p:nvPr/>
          </p:nvCxnSpPr>
          <p:spPr>
            <a:xfrm>
              <a:off x="3328015" y="549069"/>
              <a:ext cx="0" cy="5778158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4494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B1316-4D06-9BC5-2357-648128805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2">
            <a:extLst>
              <a:ext uri="{FF2B5EF4-FFF2-40B4-BE49-F238E27FC236}">
                <a16:creationId xmlns:a16="http://schemas.microsoft.com/office/drawing/2014/main" id="{B0B6476E-F63E-45D4-597C-ED10D282BB66}"/>
              </a:ext>
            </a:extLst>
          </p:cNvPr>
          <p:cNvSpPr/>
          <p:nvPr/>
        </p:nvSpPr>
        <p:spPr>
          <a:xfrm>
            <a:off x="2742657" y="2584213"/>
            <a:ext cx="6706685" cy="1689573"/>
          </a:xfrm>
          <a:prstGeom prst="roundRect">
            <a:avLst>
              <a:gd name="adj" fmla="val 1043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pPr algn="ctr"/>
            <a:endParaRPr lang="en-GB" sz="3200" dirty="0">
              <a:latin typeface="Cambria" panose="02040503050406030204" pitchFamily="18" charset="0"/>
            </a:endParaRPr>
          </a:p>
          <a:p>
            <a:pPr algn="ctr"/>
            <a:r>
              <a:rPr lang="en-GB" sz="3200" dirty="0">
                <a:latin typeface="Cambria" panose="02040503050406030204" pitchFamily="18" charset="0"/>
              </a:rPr>
              <a:t>Are deliveries fast enough?</a:t>
            </a:r>
            <a:endParaRPr lang="en-US" sz="3200" dirty="0">
              <a:latin typeface="Cambria" panose="02040503050406030204" pitchFamily="18" charset="0"/>
            </a:endParaRPr>
          </a:p>
          <a:p>
            <a:pPr algn="ctr"/>
            <a:endParaRPr lang="en-US" sz="3200" dirty="0">
              <a:latin typeface="Cambria" panose="02040503050406030204" pitchFamily="18" charset="0"/>
            </a:endParaRPr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00955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3F68E-25F9-E4D9-3616-1B81BFB23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9FD8D1F-8809-FBD5-2EDE-3C80295F4949}"/>
              </a:ext>
            </a:extLst>
          </p:cNvPr>
          <p:cNvSpPr/>
          <p:nvPr/>
        </p:nvSpPr>
        <p:spPr>
          <a:xfrm>
            <a:off x="329611" y="-56719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E201F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Avg. Days to Deliver</a:t>
            </a:r>
            <a:r>
              <a:rPr lang="en-US" dirty="0">
                <a:latin typeface="Cambria" panose="02040503050406030204" pitchFamily="18" charset="0"/>
              </a:rPr>
              <a:t> </a:t>
            </a:r>
            <a:r>
              <a:rPr lang="en-US" sz="2400" b="1" dirty="0">
                <a:solidFill>
                  <a:srgbClr val="1E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the hidden cost</a:t>
            </a:r>
            <a:endParaRPr lang="en-US" sz="24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653C7BD-783D-755D-0473-8C42455DD0AC}"/>
              </a:ext>
            </a:extLst>
          </p:cNvPr>
          <p:cNvSpPr/>
          <p:nvPr/>
        </p:nvSpPr>
        <p:spPr>
          <a:xfrm>
            <a:off x="1143435" y="1901735"/>
            <a:ext cx="3483864" cy="1965960"/>
          </a:xfrm>
          <a:prstGeom prst="roundRect">
            <a:avLst>
              <a:gd name="adj" fmla="val 5581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96D745CB-01D6-23AB-7F4A-140B71CE3B1D}"/>
              </a:ext>
            </a:extLst>
          </p:cNvPr>
          <p:cNvSpPr/>
          <p:nvPr/>
        </p:nvSpPr>
        <p:spPr>
          <a:xfrm>
            <a:off x="2611047" y="2102903"/>
            <a:ext cx="548640" cy="45720"/>
          </a:xfrm>
          <a:prstGeom prst="roundRect">
            <a:avLst>
              <a:gd name="adj" fmla="val 40000"/>
            </a:avLst>
          </a:prstGeom>
          <a:solidFill>
            <a:srgbClr val="78B66E"/>
          </a:solidFill>
          <a:ln>
            <a:solidFill>
              <a:srgbClr val="78B66E"/>
            </a:solidFill>
          </a:ln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455A2F90-F22A-001D-C4F8-7CA84310E1F4}"/>
              </a:ext>
            </a:extLst>
          </p:cNvPr>
          <p:cNvSpPr/>
          <p:nvPr/>
        </p:nvSpPr>
        <p:spPr>
          <a:xfrm>
            <a:off x="1143435" y="2221775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8B66E"/>
                </a:solidFill>
                <a:latin typeface="Cambria" panose="02040503050406030204" pitchFamily="18" charset="0"/>
              </a:rPr>
              <a:t>~12 Days</a:t>
            </a:r>
            <a:endParaRPr lang="en-US" sz="3000" dirty="0">
              <a:solidFill>
                <a:srgbClr val="78B66E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CC385028-DDE1-0179-647E-1F2E9F17F6C4}"/>
              </a:ext>
            </a:extLst>
          </p:cNvPr>
          <p:cNvSpPr/>
          <p:nvPr/>
        </p:nvSpPr>
        <p:spPr>
          <a:xfrm>
            <a:off x="1143435" y="2935007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78B66E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On-Time</a:t>
            </a:r>
            <a:endParaRPr lang="en-US" dirty="0">
              <a:solidFill>
                <a:srgbClr val="78B66E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Shape 17">
            <a:extLst>
              <a:ext uri="{FF2B5EF4-FFF2-40B4-BE49-F238E27FC236}">
                <a16:creationId xmlns:a16="http://schemas.microsoft.com/office/drawing/2014/main" id="{304F6BCA-8DF6-195D-4C46-B174A0A58E4D}"/>
              </a:ext>
            </a:extLst>
          </p:cNvPr>
          <p:cNvSpPr/>
          <p:nvPr/>
        </p:nvSpPr>
        <p:spPr>
          <a:xfrm>
            <a:off x="7353082" y="1901735"/>
            <a:ext cx="3483864" cy="1965960"/>
          </a:xfrm>
          <a:prstGeom prst="roundRect">
            <a:avLst>
              <a:gd name="adj" fmla="val 5581"/>
            </a:avLst>
          </a:prstGeom>
          <a:solidFill>
            <a:srgbClr val="F4F6F4"/>
          </a:solidFill>
          <a:ln w="12700">
            <a:solidFill>
              <a:srgbClr val="DEE2DC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E47CAE09-3F11-5B81-7430-FD12293BA4CC}"/>
              </a:ext>
            </a:extLst>
          </p:cNvPr>
          <p:cNvSpPr/>
          <p:nvPr/>
        </p:nvSpPr>
        <p:spPr>
          <a:xfrm>
            <a:off x="8820694" y="2102903"/>
            <a:ext cx="548640" cy="45720"/>
          </a:xfrm>
          <a:prstGeom prst="roundRect">
            <a:avLst>
              <a:gd name="adj" fmla="val 40000"/>
            </a:avLst>
          </a:prstGeom>
          <a:solidFill>
            <a:srgbClr val="F59B31"/>
          </a:solidFill>
          <a:ln>
            <a:solidFill>
              <a:srgbClr val="F59B31"/>
            </a:solidFill>
          </a:ln>
        </p:spPr>
        <p:txBody>
          <a:bodyPr/>
          <a:lstStyle/>
          <a:p>
            <a:endParaRPr lang="en-US" dirty="0">
              <a:solidFill>
                <a:srgbClr val="F59B31"/>
              </a:solidFill>
            </a:endParaRPr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B21D6937-4ECE-7B14-0CF5-20C34571C086}"/>
              </a:ext>
            </a:extLst>
          </p:cNvPr>
          <p:cNvSpPr/>
          <p:nvPr/>
        </p:nvSpPr>
        <p:spPr>
          <a:xfrm>
            <a:off x="7353082" y="2221775"/>
            <a:ext cx="3483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B31"/>
                </a:solidFill>
                <a:latin typeface="Cambria" panose="02040503050406030204" pitchFamily="18" charset="0"/>
              </a:rPr>
              <a:t>~32 Days</a:t>
            </a:r>
            <a:endParaRPr lang="en-US" sz="3000" dirty="0">
              <a:solidFill>
                <a:srgbClr val="F59B31"/>
              </a:solidFill>
              <a:latin typeface="Cambria" panose="02040503050406030204" pitchFamily="18" charset="0"/>
            </a:endParaRPr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BAB4F4BE-E425-A8D7-FE11-68F85DC4AA91}"/>
              </a:ext>
            </a:extLst>
          </p:cNvPr>
          <p:cNvSpPr/>
          <p:nvPr/>
        </p:nvSpPr>
        <p:spPr>
          <a:xfrm>
            <a:off x="7353082" y="2935007"/>
            <a:ext cx="3483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B31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Delayed</a:t>
            </a:r>
            <a:endParaRPr lang="en-US" sz="1400" dirty="0">
              <a:solidFill>
                <a:srgbClr val="F59B31"/>
              </a:solidFill>
              <a:latin typeface="Cambria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625E0E-B592-BD0F-8B17-941330895FC3}"/>
              </a:ext>
            </a:extLst>
          </p:cNvPr>
          <p:cNvSpPr txBox="1"/>
          <p:nvPr/>
        </p:nvSpPr>
        <p:spPr>
          <a:xfrm>
            <a:off x="2919041" y="4479969"/>
            <a:ext cx="63539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Cambria" panose="02040503050406030204" pitchFamily="18" charset="0"/>
              </a:rPr>
              <a:t>Delayed Orders Take </a:t>
            </a:r>
            <a:r>
              <a:rPr lang="en-US" sz="2800" b="1" dirty="0">
                <a:latin typeface="Cambria" panose="02040503050406030204" pitchFamily="18" charset="0"/>
              </a:rPr>
              <a:t>Approx. 3x </a:t>
            </a:r>
            <a:r>
              <a:rPr lang="en-US" sz="2800" dirty="0">
                <a:latin typeface="Cambria" panose="02040503050406030204" pitchFamily="18" charset="0"/>
              </a:rPr>
              <a:t>Longer</a:t>
            </a:r>
          </a:p>
        </p:txBody>
      </p:sp>
    </p:spTree>
    <p:extLst>
      <p:ext uri="{BB962C8B-B14F-4D97-AF65-F5344CB8AC3E}">
        <p14:creationId xmlns:p14="http://schemas.microsoft.com/office/powerpoint/2010/main" val="119883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4AB3390-1C42-9284-AA98-409A603921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012" t="436" r="34703" b="97480"/>
          <a:stretch>
            <a:fillRect/>
          </a:stretch>
        </p:blipFill>
        <p:spPr>
          <a:xfrm>
            <a:off x="7658893" y="3018289"/>
            <a:ext cx="4153546" cy="2868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5540AFB7-D77B-7217-7FDA-173BB0A02DA6}"/>
              </a:ext>
            </a:extLst>
          </p:cNvPr>
          <p:cNvGrpSpPr/>
          <p:nvPr/>
        </p:nvGrpSpPr>
        <p:grpSpPr>
          <a:xfrm>
            <a:off x="379561" y="350530"/>
            <a:ext cx="6669732" cy="6507470"/>
            <a:chOff x="379561" y="350530"/>
            <a:chExt cx="6669732" cy="650747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93365DD-A1BE-6334-D7C7-7A33189018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790"/>
            <a:stretch>
              <a:fillRect/>
            </a:stretch>
          </p:blipFill>
          <p:spPr>
            <a:xfrm>
              <a:off x="379561" y="350530"/>
              <a:ext cx="6669732" cy="650747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182BFAF-8F33-8B55-1179-4A9999B9AF4F}"/>
                </a:ext>
              </a:extLst>
            </p:cNvPr>
            <p:cNvSpPr/>
            <p:nvPr/>
          </p:nvSpPr>
          <p:spPr>
            <a:xfrm>
              <a:off x="6080501" y="4251702"/>
              <a:ext cx="371959" cy="1859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B46F358-53AF-78AF-054C-34A04AFB2608}"/>
                </a:ext>
              </a:extLst>
            </p:cNvPr>
            <p:cNvSpPr/>
            <p:nvPr/>
          </p:nvSpPr>
          <p:spPr>
            <a:xfrm>
              <a:off x="3939151" y="3161698"/>
              <a:ext cx="371959" cy="1859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B25162-0ACB-BA1D-D449-DAAA1C7AEA84}"/>
                </a:ext>
              </a:extLst>
            </p:cNvPr>
            <p:cNvSpPr/>
            <p:nvPr/>
          </p:nvSpPr>
          <p:spPr>
            <a:xfrm>
              <a:off x="1797802" y="1170166"/>
              <a:ext cx="371959" cy="1859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 0">
            <a:extLst>
              <a:ext uri="{FF2B5EF4-FFF2-40B4-BE49-F238E27FC236}">
                <a16:creationId xmlns:a16="http://schemas.microsoft.com/office/drawing/2014/main" id="{A71AD09B-7045-5695-881B-E6F5425A2E82}"/>
              </a:ext>
            </a:extLst>
          </p:cNvPr>
          <p:cNvSpPr/>
          <p:nvPr/>
        </p:nvSpPr>
        <p:spPr>
          <a:xfrm>
            <a:off x="117894" y="-224989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Score vs. Delivery status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2C6CA-8175-0F0D-E94F-7B53E7ECFD49}"/>
              </a:ext>
            </a:extLst>
          </p:cNvPr>
          <p:cNvSpPr txBox="1"/>
          <p:nvPr/>
        </p:nvSpPr>
        <p:spPr>
          <a:xfrm>
            <a:off x="8255431" y="44583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E6DF0-68E9-2DAE-04A0-295509FA834F}"/>
              </a:ext>
            </a:extLst>
          </p:cNvPr>
          <p:cNvSpPr txBox="1"/>
          <p:nvPr/>
        </p:nvSpPr>
        <p:spPr>
          <a:xfrm>
            <a:off x="7658893" y="3817181"/>
            <a:ext cx="4276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</a:rPr>
              <a:t>Delivery delay </a:t>
            </a:r>
            <a:r>
              <a:rPr lang="en-US" dirty="0">
                <a:latin typeface="Cambria" panose="02040503050406030204" pitchFamily="18" charset="0"/>
                <a:sym typeface="Wingdings" pitchFamily="2" charset="2"/>
              </a:rPr>
              <a:t>C</a:t>
            </a:r>
            <a:r>
              <a:rPr lang="en-US" dirty="0">
                <a:latin typeface="Cambria" panose="02040503050406030204" pitchFamily="18" charset="0"/>
              </a:rPr>
              <a:t>ustomer dissatisfaction</a:t>
            </a:r>
          </a:p>
        </p:txBody>
      </p:sp>
    </p:spTree>
    <p:extLst>
      <p:ext uri="{BB962C8B-B14F-4D97-AF65-F5344CB8AC3E}">
        <p14:creationId xmlns:p14="http://schemas.microsoft.com/office/powerpoint/2010/main" val="140098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A5F101-5123-4513-1C9C-04972E2DC92C}"/>
              </a:ext>
            </a:extLst>
          </p:cNvPr>
          <p:cNvSpPr txBox="1"/>
          <p:nvPr/>
        </p:nvSpPr>
        <p:spPr>
          <a:xfrm>
            <a:off x="1146875" y="53004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60B00E-300D-6EA0-E0F8-C22BE3F04CEE}"/>
              </a:ext>
            </a:extLst>
          </p:cNvPr>
          <p:cNvGrpSpPr/>
          <p:nvPr/>
        </p:nvGrpSpPr>
        <p:grpSpPr>
          <a:xfrm>
            <a:off x="51662" y="47808"/>
            <a:ext cx="7716793" cy="6762384"/>
            <a:chOff x="2174930" y="95616"/>
            <a:chExt cx="7716793" cy="676238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265B384C-82A1-9128-0B6D-BABF0CE09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72" t="1394" b="1394"/>
            <a:stretch>
              <a:fillRect/>
            </a:stretch>
          </p:blipFill>
          <p:spPr>
            <a:xfrm>
              <a:off x="2510725" y="95616"/>
              <a:ext cx="7380998" cy="6666767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C3581EE-6A18-B662-D26D-C003D19670CC}"/>
                </a:ext>
              </a:extLst>
            </p:cNvPr>
            <p:cNvSpPr/>
            <p:nvPr/>
          </p:nvSpPr>
          <p:spPr>
            <a:xfrm>
              <a:off x="2174930" y="5765369"/>
              <a:ext cx="2298915" cy="10926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Doughnut 8">
            <a:extLst>
              <a:ext uri="{FF2B5EF4-FFF2-40B4-BE49-F238E27FC236}">
                <a16:creationId xmlns:a16="http://schemas.microsoft.com/office/drawing/2014/main" id="{7AEAA9B1-3629-302E-10B3-FD7BDBFD68C9}"/>
              </a:ext>
            </a:extLst>
          </p:cNvPr>
          <p:cNvSpPr/>
          <p:nvPr/>
        </p:nvSpPr>
        <p:spPr>
          <a:xfrm>
            <a:off x="4077956" y="3496137"/>
            <a:ext cx="2133600" cy="2173615"/>
          </a:xfrm>
          <a:prstGeom prst="donut">
            <a:avLst>
              <a:gd name="adj" fmla="val 2669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F732E385-F684-E1E2-54B3-25BA2B7C0566}"/>
              </a:ext>
            </a:extLst>
          </p:cNvPr>
          <p:cNvSpPr/>
          <p:nvPr/>
        </p:nvSpPr>
        <p:spPr>
          <a:xfrm>
            <a:off x="838200" y="-186033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compounds the risk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1031B5-B078-9017-618D-E6645FDF75AD}"/>
              </a:ext>
            </a:extLst>
          </p:cNvPr>
          <p:cNvSpPr txBox="1"/>
          <p:nvPr/>
        </p:nvSpPr>
        <p:spPr>
          <a:xfrm>
            <a:off x="8527873" y="4799590"/>
            <a:ext cx="31207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60% </a:t>
            </a:r>
            <a:r>
              <a:rPr lang="en-US" sz="2400" dirty="0"/>
              <a:t>of the Tech Sellers </a:t>
            </a:r>
          </a:p>
          <a:p>
            <a:pPr algn="ctr"/>
            <a:r>
              <a:rPr lang="en-US" sz="2400" dirty="0"/>
              <a:t>are from </a:t>
            </a:r>
            <a:r>
              <a:rPr lang="en-US" sz="2400" b="1" dirty="0"/>
              <a:t>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25A5C-340C-7C13-561F-95DEAB957179}"/>
              </a:ext>
            </a:extLst>
          </p:cNvPr>
          <p:cNvSpPr txBox="1"/>
          <p:nvPr/>
        </p:nvSpPr>
        <p:spPr>
          <a:xfrm>
            <a:off x="8155912" y="2177296"/>
            <a:ext cx="38662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No Express Delivery </a:t>
            </a:r>
            <a:r>
              <a:rPr lang="en-US" sz="2400" dirty="0"/>
              <a:t>Services </a:t>
            </a:r>
          </a:p>
          <a:p>
            <a:pPr algn="ctr"/>
            <a:r>
              <a:rPr lang="en-US" sz="2400" dirty="0"/>
              <a:t>by Magist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D8CC43-35F1-2335-E0FE-3168A3BF3B34}"/>
              </a:ext>
            </a:extLst>
          </p:cNvPr>
          <p:cNvSpPr txBox="1"/>
          <p:nvPr/>
        </p:nvSpPr>
        <p:spPr>
          <a:xfrm>
            <a:off x="8698272" y="3757312"/>
            <a:ext cx="27799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São Paulo Delivers </a:t>
            </a:r>
          </a:p>
          <a:p>
            <a:pPr algn="ctr"/>
            <a:r>
              <a:rPr lang="en-US" sz="2400" b="1" dirty="0"/>
              <a:t>~Twice </a:t>
            </a:r>
            <a:r>
              <a:rPr lang="en-US" sz="2400" dirty="0"/>
              <a:t>as Fast as Rio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55E3E-4D5F-B505-1274-ECE3508437BB}"/>
              </a:ext>
            </a:extLst>
          </p:cNvPr>
          <p:cNvSpPr txBox="1"/>
          <p:nvPr/>
        </p:nvSpPr>
        <p:spPr>
          <a:xfrm>
            <a:off x="8426465" y="1135018"/>
            <a:ext cx="33251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Apple store </a:t>
            </a:r>
            <a:r>
              <a:rPr lang="en-US" sz="2400" dirty="0">
                <a:sym typeface="Wingdings" pitchFamily="2" charset="2"/>
              </a:rPr>
              <a:t> ~1-7 days</a:t>
            </a:r>
          </a:p>
          <a:p>
            <a:pPr algn="ctr"/>
            <a:r>
              <a:rPr lang="en-US" sz="2400" dirty="0">
                <a:sym typeface="Wingdings" pitchFamily="2" charset="2"/>
              </a:rPr>
              <a:t>Magist</a:t>
            </a:r>
            <a:r>
              <a:rPr lang="en-US" sz="2400" dirty="0"/>
              <a:t>  </a:t>
            </a:r>
            <a:r>
              <a:rPr lang="en-US" sz="2400" dirty="0">
                <a:sym typeface="Wingdings" pitchFamily="2" charset="2"/>
              </a:rPr>
              <a:t> ~13 days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EF8978-6CD7-3D3C-4110-E3F0E067C4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768" t="45094" r="11333" b="15659"/>
          <a:stretch>
            <a:fillRect/>
          </a:stretch>
        </p:blipFill>
        <p:spPr>
          <a:xfrm>
            <a:off x="0" y="102095"/>
            <a:ext cx="6777471" cy="661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3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11" grpId="0" animBg="1"/>
      <p:bldP spid="12" grpId="0"/>
      <p:bldP spid="13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2F499D-1EDC-0B14-202A-C990F90B0F01}"/>
              </a:ext>
            </a:extLst>
          </p:cNvPr>
          <p:cNvSpPr txBox="1"/>
          <p:nvPr/>
        </p:nvSpPr>
        <p:spPr>
          <a:xfrm>
            <a:off x="113628" y="525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E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isn’t stable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75A433-2705-46B8-4037-831785110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6387" y="369332"/>
            <a:ext cx="6603852" cy="648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011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502920"/>
            <a:ext cx="5943600" cy="685800"/>
          </a:xfrm>
          <a:prstGeom prst="roundRect">
            <a:avLst>
              <a:gd name="adj" fmla="val 49333"/>
            </a:avLst>
          </a:prstGeom>
          <a:solidFill>
            <a:srgbClr val="E1F5EE"/>
          </a:solidFill>
          <a:ln w="190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108960" y="50292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Conditional Yes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371600" y="132588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6A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Brazilian market through Magist — but only with guardrails</a:t>
            </a:r>
            <a:endParaRPr lang="en-US" sz="1400" dirty="0">
              <a:solidFill>
                <a:srgbClr val="56A794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99516" y="2148840"/>
            <a:ext cx="3383280" cy="3566160"/>
          </a:xfrm>
          <a:prstGeom prst="roundRect">
            <a:avLst>
              <a:gd name="adj" fmla="val 3784"/>
            </a:avLst>
          </a:prstGeom>
          <a:solidFill>
            <a:srgbClr val="0F4B3D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139696" y="2468880"/>
            <a:ext cx="502920" cy="502920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139696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3836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Program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3836" y="37033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subset of mid-tier accessories before exposing flagship premium lines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02836" y="2148840"/>
            <a:ext cx="3383280" cy="3566160"/>
          </a:xfrm>
          <a:prstGeom prst="roundRect">
            <a:avLst>
              <a:gd name="adj" fmla="val 3784"/>
            </a:avLst>
          </a:prstGeom>
          <a:solidFill>
            <a:srgbClr val="0F4B3D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844540" y="2468880"/>
            <a:ext cx="502920" cy="502920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445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77156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Commitments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77156" y="37033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explicit delivery-time guarantees for tech-category orders specifically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6156" y="2148840"/>
            <a:ext cx="3383280" cy="3566160"/>
          </a:xfrm>
          <a:prstGeom prst="roundRect">
            <a:avLst>
              <a:gd name="adj" fmla="val 3784"/>
            </a:avLst>
          </a:prstGeom>
          <a:solidFill>
            <a:srgbClr val="0F4B3D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549384" y="2468880"/>
            <a:ext cx="502920" cy="502920"/>
          </a:xfrm>
          <a:prstGeom prst="ellipse">
            <a:avLst/>
          </a:prstGeom>
          <a:solidFill>
            <a:srgbClr val="EF9F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549384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80476" y="3200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Rollout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0476" y="370332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region by region, starting in São Paulo where seller density is highest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79B2-14B0-3FF6-1A84-3861324EEEF2}"/>
              </a:ext>
            </a:extLst>
          </p:cNvPr>
          <p:cNvSpPr txBox="1">
            <a:spLocks/>
          </p:cNvSpPr>
          <p:nvPr/>
        </p:nvSpPr>
        <p:spPr>
          <a:xfrm>
            <a:off x="4111941" y="3028674"/>
            <a:ext cx="3968117" cy="80065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ambria" panose="02040503050406030204" pitchFamily="18" charset="0"/>
              </a:rPr>
              <a:t>Thank YOU </a:t>
            </a:r>
            <a:r>
              <a:rPr lang="en-US" b="1" dirty="0">
                <a:latin typeface="Cambria" panose="02040503050406030204" pitchFamily="18" charset="0"/>
                <a:sym typeface="Wingdings" pitchFamily="2" charset="2"/>
              </a:rPr>
              <a:t></a:t>
            </a:r>
            <a:endParaRPr lang="en-US" b="1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711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89CE7EE-F023-FB8E-5643-5AD8E2EC80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81" r="10701" b="4916"/>
          <a:stretch>
            <a:fillRect/>
          </a:stretch>
        </p:blipFill>
        <p:spPr>
          <a:xfrm>
            <a:off x="289560" y="168592"/>
            <a:ext cx="5743575" cy="65208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0733C4-39A4-0D2E-C457-DF98F2F44B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19" b="4916"/>
          <a:stretch>
            <a:fillRect/>
          </a:stretch>
        </p:blipFill>
        <p:spPr>
          <a:xfrm>
            <a:off x="289560" y="168592"/>
            <a:ext cx="5743575" cy="652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72F498-0947-D025-3562-B95C20C11A7B}"/>
              </a:ext>
            </a:extLst>
          </p:cNvPr>
          <p:cNvSpPr txBox="1"/>
          <p:nvPr/>
        </p:nvSpPr>
        <p:spPr>
          <a:xfrm>
            <a:off x="6516356" y="3167389"/>
            <a:ext cx="54003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60% of the Tech Sellers are from SP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B4FE52-4161-BAF7-6266-6D9E07EFFDCE}"/>
              </a:ext>
            </a:extLst>
          </p:cNvPr>
          <p:cNvSpPr txBox="1"/>
          <p:nvPr/>
        </p:nvSpPr>
        <p:spPr>
          <a:xfrm>
            <a:off x="7006041" y="3912641"/>
            <a:ext cx="4401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No Express Delivery Services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0F1E100-D8BA-A795-CB90-BEC228D259D2}"/>
              </a:ext>
            </a:extLst>
          </p:cNvPr>
          <p:cNvSpPr/>
          <p:nvPr/>
        </p:nvSpPr>
        <p:spPr>
          <a:xfrm>
            <a:off x="838200" y="-186033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E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compounds the risk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794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1075</Words>
  <Application>Microsoft Macintosh PowerPoint</Application>
  <PresentationFormat>Widescreen</PresentationFormat>
  <Paragraphs>151</Paragraphs>
  <Slides>15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Usama</dc:creator>
  <cp:lastModifiedBy>Muhammad Usama</cp:lastModifiedBy>
  <cp:revision>194</cp:revision>
  <dcterms:created xsi:type="dcterms:W3CDTF">2026-08-10T13:29:27Z</dcterms:created>
  <dcterms:modified xsi:type="dcterms:W3CDTF">2026-08-11T14:24:01Z</dcterms:modified>
</cp:coreProperties>
</file>